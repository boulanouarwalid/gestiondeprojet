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Calibri"/>
              </a:defRPr>
            </a:pPr>
            <a:r>
              <a:t>PROJECT.EVAL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Industrialisation de la Gestion de Projets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727" y="2011680"/>
            <a:ext cx="2560320" cy="1280160"/>
          </a:xfrm>
          <a:prstGeom prst="roundRect">
            <a:avLst/>
          </a:prstGeom>
          <a:solidFill>
            <a:srgbClr val="1218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727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727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Initialisation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42335" y="2468880"/>
            <a:ext cx="237744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98367" y="2011680"/>
            <a:ext cx="2560320" cy="1280160"/>
          </a:xfrm>
          <a:prstGeom prst="roundRect">
            <a:avLst/>
          </a:prstGeom>
          <a:solidFill>
            <a:srgbClr val="12182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8367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8367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Planification</a:t>
            </a:r>
            <a:br/>
            <a:r>
              <a:t>des Tâches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76975" y="2468880"/>
            <a:ext cx="237744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2011680"/>
            <a:ext cx="2560320" cy="1280160"/>
          </a:xfrm>
          <a:prstGeom prst="roundRect">
            <a:avLst/>
          </a:prstGeom>
          <a:solidFill>
            <a:srgbClr val="12182E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3007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800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Suivi du</a:t>
            </a:r>
            <a:br/>
            <a:r>
              <a:t>Budget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1615" y="2468880"/>
            <a:ext cx="237744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67647" y="2011680"/>
            <a:ext cx="2560320" cy="1280160"/>
          </a:xfrm>
          <a:prstGeom prst="roundRect">
            <a:avLst/>
          </a:prstGeom>
          <a:solidFill>
            <a:srgbClr val="12182E"/>
          </a:solidFill>
          <a:ln w="254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7647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66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647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Rapports</a:t>
            </a:r>
            <a:br/>
            <a:r>
              <a:t>Multi-Formats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40480"/>
            <a:ext cx="5303520" cy="137160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776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Application d'entreprise pour pilotage de projets multi-départements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5994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Spécialités : DevOps, Génie Civil, Cyber, Data Science, Electricité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303520" cy="137160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97764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PILIERS METIER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Traçabilité stricte des dépenses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5994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Alertes budgetaires en temps reel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554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Generation de rapports multi-formats (PDF, Excel)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Calibri"/>
              </a:defRPr>
            </a:pPr>
            <a:r>
              <a:t>Design Patterns en action  |  Java  Spring Boot  Angular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3333"/>
                </a:solidFill>
                <a:latin typeface="Calibri"/>
              </a:defRPr>
            </a:pPr>
            <a:r>
              <a:t>CRITICAL.ISSUES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Les Limites du Monolithe Refractaire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645920"/>
            <a:ext cx="3931920" cy="2286000"/>
          </a:xfrm>
          <a:prstGeom prst="roundRect">
            <a:avLst/>
          </a:prstGeom>
          <a:solidFill>
            <a:srgbClr val="2A0808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3333"/>
                </a:solidFill>
                <a:latin typeface="Calibri"/>
              </a:defRPr>
            </a:pPr>
            <a:r>
              <a:t>MONOLITHE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666"/>
                </a:solidFill>
                <a:latin typeface="Calibri"/>
              </a:defRPr>
            </a:pPr>
            <a:r>
              <a:t>Code Spaghetti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Calibri"/>
              </a:defRPr>
            </a:pPr>
            <a:r>
              <a:t>Tout est couple partout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3474720" cy="164592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333"/>
                </a:solidFill>
                <a:latin typeface="Calibri"/>
              </a:defRPr>
            </a:pPr>
            <a:r>
              <a:t>COUPLAGE 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Modifier le module Depenses</a:t>
            </a:r>
            <a:br/>
            <a:r>
              <a:t>casse le module Budget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389120"/>
            <a:ext cx="3474720" cy="164592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8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800"/>
                </a:solidFill>
                <a:latin typeface="Calibri"/>
              </a:defRPr>
            </a:pPr>
            <a:r>
              <a:t>RIGIDITE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Ajout d'une specialite = </a:t>
            </a:r>
            <a:br/>
            <a:r>
              <a:t>reescriture des controleurs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389120"/>
            <a:ext cx="3474720" cy="164592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526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00"/>
                </a:solidFill>
                <a:latin typeface="Calibri"/>
              </a:defRPr>
            </a:pPr>
            <a:r>
              <a:t>DETTE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Code infrastructure (transactions,</a:t>
            </a:r>
            <a:br/>
            <a:r>
              <a:t>audits, logs) pollue le metier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Calibri"/>
              </a:defRPr>
            </a:pPr>
            <a:r>
              <a:t>"Objectif : une architecture ou le code infrastructure ne pollue jamais les regles metier"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D4FF"/>
                </a:solidFill>
                <a:latin typeface="Calibri"/>
              </a:defRPr>
            </a:pPr>
            <a:r>
              <a:t>ARCHITECTURE.BLUEPRINT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Cartographie Spatiale du Systeme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463040"/>
            <a:ext cx="274320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490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ProjetController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463040"/>
            <a:ext cx="274320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490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TacheController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463040"/>
            <a:ext cx="274320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90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BudgetController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463040"/>
            <a:ext cx="274320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490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Calibri"/>
              </a:defRPr>
            </a:pPr>
            <a:r>
              <a:t>DepenseController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760720" y="1783080"/>
            <a:ext cx="457200" cy="27432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alibri"/>
              </a:defRPr>
            </a:pPr>
            <a:r>
              <a:t>FACADE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2377440"/>
            <a:ext cx="3657600" cy="365760"/>
          </a:xfrm>
          <a:prstGeom prst="roundRect">
            <a:avLst/>
          </a:prstGeom>
          <a:solidFill>
            <a:srgbClr val="12182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ProjetFacade  initialiserProjet()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760720" y="2743200"/>
            <a:ext cx="457200" cy="2286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SERVICES  @Service  @Transactional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291840"/>
            <a:ext cx="214884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3192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Calibri"/>
              </a:defRPr>
            </a:pPr>
            <a:r>
              <a:t>ProjetService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39" y="3291840"/>
            <a:ext cx="214884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33192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FF88"/>
                </a:solidFill>
                <a:latin typeface="Calibri"/>
              </a:defRPr>
            </a:pPr>
            <a:r>
              <a:t>BudgetService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59" y="3291840"/>
            <a:ext cx="214884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59" y="33192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8800"/>
                </a:solidFill>
                <a:latin typeface="Calibri"/>
              </a:defRPr>
            </a:pPr>
            <a:r>
              <a:t>BudgetAlerteDecorator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79" y="3291840"/>
            <a:ext cx="214884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79" y="33192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66FF"/>
                </a:solidFill>
                <a:latin typeface="Calibri"/>
              </a:defRPr>
            </a:pPr>
            <a:r>
              <a:t>TacheService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291840"/>
            <a:ext cx="214884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33192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CC00"/>
                </a:solidFill>
                <a:latin typeface="Calibri"/>
              </a:defRPr>
            </a:pPr>
            <a:r>
              <a:t>DepenseService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5760720" y="3611880"/>
            <a:ext cx="457200" cy="2286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88"/>
                </a:solidFill>
                <a:latin typeface="Calibri"/>
              </a:defRPr>
            </a:pPr>
            <a:r>
              <a:t>STRATEGY  /  OBSERVER  /  TEMPLATE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160520"/>
            <a:ext cx="347472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FF88"/>
                </a:solidFill>
                <a:latin typeface="Calibri"/>
              </a:defRPr>
            </a:pPr>
            <a:r>
              <a:t>Strategy: AvancementStrategy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4074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  CalculSimple  |  CalculPrudent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160520"/>
            <a:ext cx="365760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800"/>
                </a:solidFill>
                <a:latin typeface="Calibri"/>
              </a:defRPr>
            </a:pPr>
            <a:r>
              <a:t>Observer: DepenseCreatedEvent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4074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  DepenseService  TacheService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4160520"/>
            <a:ext cx="3657600" cy="64008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66FF"/>
                </a:solidFill>
                <a:latin typeface="Calibri"/>
              </a:defRPr>
            </a:pPr>
            <a:r>
              <a:t>Template: RapportGenerator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4074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  RapportPDF  |  RapportExcel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5760720" y="4800600"/>
            <a:ext cx="457200" cy="2286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C00"/>
                </a:solidFill>
                <a:latin typeface="Calibri"/>
              </a:defRPr>
            </a:pPr>
            <a:r>
              <a:t>FACTORY  /  REPOSITORY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349240"/>
            <a:ext cx="5486400" cy="36576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376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C00"/>
                </a:solidFill>
                <a:latin typeface="Calibri"/>
              </a:defRPr>
            </a:pPr>
            <a:r>
              <a:t>TacheFactory (6 variantes: Cyber, DevOps, GenieCivil, Electricite, DataScience, SE)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5349240"/>
            <a:ext cx="5486400" cy="36576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3766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JPA Repository (Projet, Tache, Budget, Depense)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5760720" y="5715000"/>
            <a:ext cx="457200" cy="2286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ENTITIES  (JPA)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6263640"/>
            <a:ext cx="256032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291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Projet  (Cloneable)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6263640"/>
            <a:ext cx="256032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6291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Tache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6263640"/>
            <a:ext cx="256032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6291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6263640"/>
            <a:ext cx="256032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6291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Depense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Calibri"/>
              </a:defRPr>
            </a:pPr>
            <a:r>
              <a:t>LEGENDE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01200" y="1463040"/>
            <a:ext cx="27432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01200" y="1737360"/>
            <a:ext cx="274320" cy="18288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Factory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01200" y="2011680"/>
            <a:ext cx="274320" cy="18288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Facade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01200" y="2286000"/>
            <a:ext cx="274320" cy="18288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Decorator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01200" y="2560320"/>
            <a:ext cx="274320" cy="18288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Observer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01200" y="2834640"/>
            <a:ext cx="274320" cy="182880"/>
          </a:xfrm>
          <a:prstGeom prst="roundRect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66960" y="1444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01 // ARCHITECTURE.PATTERNS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Instanciation &amp;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--- CREATION ---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554480"/>
            <a:ext cx="5486400" cy="128016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91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SINGLETON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 classes @Service : 1 seule instance par conteneur Spring IoC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3134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ProjetService  TacheService  BudgetService  DepenseService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694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BudgetAlerteDecorator  ProjetFacade  RapportPDF  RapportExcel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554480"/>
            <a:ext cx="1810512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572768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Spring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554480"/>
            <a:ext cx="5669280" cy="128016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91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C00"/>
                </a:solidFill>
                <a:latin typeface="Calibri"/>
              </a:defRPr>
            </a:pPr>
            <a:r>
              <a:t>FACTORY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TacheFactory interface : creerTache(nom, projet)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134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 variantes : Cyber, DevOps, GenieCivil, Electricite, DataScience, 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5694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Evite le mot-cle new  —  Dispatch dynamique par 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1554480"/>
            <a:ext cx="1481328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57276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CC00"/>
                </a:solidFill>
                <a:latin typeface="Calibri"/>
              </a:defRPr>
            </a:pPr>
            <a:r>
              <a:t>6 factories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017520"/>
            <a:ext cx="5486400" cy="109728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546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BUILDER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5204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ProjetDTO  TacheDTO  DepenseDTO : @Builder (Lombok)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776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Construction fluide et immuable : ProjetDTO.builder().nomProjet(...).build()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3250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Validation integree via @NotBlank  @Size  @NotNull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017520"/>
            <a:ext cx="932688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03580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Calibri"/>
              </a:defRPr>
            </a:pPr>
            <a:r>
              <a:t>Lombok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017520"/>
            <a:ext cx="5669280" cy="109728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1546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520439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Projet implements Cloneable + clone()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764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reset Id=null, Taches=null, Budgets=null pour copie propre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03250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Endpoint POST /{id}/cloner  —  Duplication en RAM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3017520"/>
            <a:ext cx="1261872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303580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Cloneable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800"/>
                </a:solidFill>
                <a:latin typeface="Calibri"/>
              </a:defRPr>
            </a:pPr>
            <a:r>
              <a:t>--- STRUCTURE ---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4754880"/>
            <a:ext cx="5486400" cy="91440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92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FACADE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ProjetFacade unifie 4 services en 1 appel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513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initialiserProjet(ProjetDTO, Map&lt;TacheDTO, DepenseDTO&gt;, BudgetDTO)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7698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Masque la complexite de creation projet + budget + taches + depenses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4754880"/>
            <a:ext cx="1261872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77316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Calibri"/>
              </a:defRPr>
            </a:pPr>
            <a:r>
              <a:t>1 methode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0" y="4754880"/>
            <a:ext cx="5669280" cy="91440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257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@Transactional sur 5 services  —  Proxy Spring AOP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51383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beginTransaction / commit / rollback automatique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76986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Code metier zero infrastructure transactionnelle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32720" y="4754880"/>
            <a:ext cx="1810512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24160" y="4773168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@Transactional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852160"/>
            <a:ext cx="11430000" cy="82296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8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989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800"/>
                </a:solidFill>
                <a:latin typeface="Calibri"/>
              </a:defRPr>
            </a:pPr>
            <a:r>
              <a:t>DECORATOR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BudgetAlerteDecorator implements IBudgetService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6111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Wrapper around BudgetService : ajoute alerte si budget &gt; 500 000 MAD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86714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Audit des transactions a la volee sans modifier BudgetService original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32720" y="5852160"/>
            <a:ext cx="932688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587044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800"/>
                </a:solidFill>
                <a:latin typeface="Calibri"/>
              </a:defRPr>
            </a:pPr>
            <a:r>
              <a:t>alerte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B66FF"/>
                </a:solidFill>
                <a:latin typeface="Calibri"/>
              </a:defRPr>
            </a:pPr>
            <a:r>
              <a:t>02 // ARCHITECTURE.PATTERNS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Algorithmes &amp; Flux Reactifs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371600"/>
            <a:ext cx="3657600" cy="201168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AvancementStrategy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calculer(prevu, consomme)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3865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02920" y="26426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CalculSimple : (consomme / prevu) *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98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CalculPrudent : (consomme * 1.1 / prevu) *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54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Injection via @Qualifier("calculSimple")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667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Interchangeable sans modifier BudgetService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1371600"/>
            <a:ext cx="1371600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13898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Calibri"/>
              </a:defRPr>
            </a:pPr>
            <a:r>
              <a:t>@Qualifier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1371600"/>
            <a:ext cx="3657600" cy="201168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FF8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800"/>
                </a:solidFill>
                <a:latin typeface="Calibri"/>
              </a:defRPr>
            </a:pPr>
            <a:r>
              <a:t>OBSERVER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Event : DepenseCreatedEvent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434840" y="23865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Publisher : DepenseService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6426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eventPublisher.publishEvent(event)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898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434840" y="3154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Listener : TacheService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4107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@EventListener  update 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6667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434840" y="39227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Couplage = ZERO  (canal neutre)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371600"/>
            <a:ext cx="1591056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59" y="13898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800"/>
                </a:solidFill>
                <a:latin typeface="Calibri"/>
              </a:defRPr>
            </a:pPr>
            <a:r>
              <a:t>event-driven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2377440"/>
            <a:ext cx="1188720" cy="36576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CC00"/>
                </a:solidFill>
                <a:latin typeface="Calibri"/>
              </a:defRPr>
            </a:pPr>
            <a:r>
              <a:t>DepenseService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623560" y="2423160"/>
            <a:ext cx="457200" cy="274320"/>
          </a:xfrm>
          <a:prstGeom prst="rightArrow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2423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800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583680" y="2423160"/>
            <a:ext cx="457200" cy="274320"/>
          </a:xfrm>
          <a:prstGeom prst="rightArrow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086600" y="2377440"/>
            <a:ext cx="1188720" cy="36576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B66FF"/>
                </a:solidFill>
                <a:latin typeface="Calibri"/>
              </a:defRPr>
            </a:pPr>
            <a:r>
              <a:t>TacheService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7589520" y="2697480"/>
            <a:ext cx="27432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15200" y="2971800"/>
            <a:ext cx="822960" cy="27432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29992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Budget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371600"/>
            <a:ext cx="3657600" cy="2011680"/>
          </a:xfrm>
          <a:prstGeom prst="roundRect">
            <a:avLst/>
          </a:prstGeom>
          <a:solidFill>
            <a:srgbClr val="12182E"/>
          </a:solidFill>
          <a:ln w="19050">
            <a:solidFill>
              <a:srgbClr val="BB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66FF"/>
                </a:solidFill>
                <a:latin typeface="Calibri"/>
              </a:defRPr>
            </a:pPr>
            <a:r>
              <a:t>TEMPLATE METHOD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RapportGenerator (abstract)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1305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8366760" y="23865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Template : genererRapportComplet() [final]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6426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1. extraireDonnees()  [concret]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2898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2. formaterFichier()  [abstract]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154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3. Envoi au client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4107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8366760" y="36667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RapportPDFService  |  RapportExcelService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07040" y="1371600"/>
            <a:ext cx="1152144" cy="3200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98480" y="1389888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B66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SCHEMA D'EXECUTION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389120"/>
            <a:ext cx="109728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600200" y="4526280"/>
            <a:ext cx="365760" cy="18288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011680" y="4389120"/>
            <a:ext cx="13716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3429000" y="4526280"/>
            <a:ext cx="365760" cy="18288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40480" y="4389120"/>
            <a:ext cx="13716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404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ProjetFacade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5257800" y="4526280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669280" y="4389120"/>
            <a:ext cx="13716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800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5486400" y="4892040"/>
            <a:ext cx="274320" cy="274320"/>
          </a:xfrm>
          <a:prstGeom prst="downArrow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029200" y="5212080"/>
            <a:ext cx="13716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800"/>
                </a:solidFill>
                <a:latin typeface="Calibri"/>
              </a:defRPr>
            </a:pPr>
            <a:r>
              <a:t>Event Bus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6446520" y="5349240"/>
            <a:ext cx="365760" cy="182880"/>
          </a:xfrm>
          <a:prstGeom prst="rightArrow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858000" y="5212080"/>
            <a:ext cx="13716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66FF"/>
                </a:solidFill>
                <a:latin typeface="Calibri"/>
              </a:defRPr>
            </a:pPr>
            <a:r>
              <a:t>Listener</a:t>
            </a:r>
          </a:p>
        </p:txBody>
      </p:sp>
      <p:sp>
        <p:nvSpPr>
          <p:cNvPr id="80" name="Up Arrow 79"/>
          <p:cNvSpPr/>
          <p:nvPr/>
        </p:nvSpPr>
        <p:spPr>
          <a:xfrm>
            <a:off x="7863840" y="4892040"/>
            <a:ext cx="274320" cy="274320"/>
          </a:xfrm>
          <a:prstGeom prst="up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315200" y="3931920"/>
            <a:ext cx="18288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FF88"/>
                </a:solidFill>
                <a:latin typeface="Calibri"/>
              </a:defRPr>
            </a:pPr>
            <a:r>
              <a:t>CalculSimple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4206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Calibri"/>
              </a:defRPr>
            </a:pPr>
            <a:r>
              <a:t>ou CalculPrudent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9144000" y="4892040"/>
            <a:ext cx="274320" cy="274320"/>
          </a:xfrm>
          <a:prstGeom prst="downArrow">
            <a:avLst/>
          </a:prstGeom>
          <a:solidFill>
            <a:srgbClr val="BB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503920" y="5212080"/>
            <a:ext cx="1828800" cy="45720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BB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0392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66FF"/>
                </a:solidFill>
                <a:latin typeface="Calibri"/>
              </a:defRPr>
            </a:pPr>
            <a:r>
              <a:t>RapportPDF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5486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  <a:latin typeface="Calibri"/>
              </a:defRPr>
            </a:pPr>
            <a:r>
              <a:t>ou RapportExcel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FF88"/>
                </a:solidFill>
                <a:latin typeface="Calibri"/>
              </a:defRPr>
            </a:pPr>
            <a:r>
              <a:t>RUNTIME.LIVE_DEMO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La Preuve par le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11247120" cy="4114800"/>
          </a:xfrm>
          <a:prstGeom prst="roundRect">
            <a:avLst/>
          </a:prstGeom>
          <a:solidFill>
            <a:srgbClr val="0D111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solidFill>
            <a:srgbClr val="1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389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PROJECT.EVAL - Test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8288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$  mvn test -Dtest=GestionProjetApplicationTests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[INFO]  T E S T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505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onsolas"/>
              </a:defRPr>
            </a:pPr>
            <a:r>
              <a:t>[INFO] Running com.controleproject.GestionProjetApplicationTests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163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  [PROXY] @Transactional: begin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7238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  [FACADE] ProjetFacade.initialiserProjet() orchestre 4 services...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2841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C00"/>
                </a:solidFill>
                <a:latin typeface="Consolas"/>
              </a:defRPr>
            </a:pPr>
            <a:r>
              <a:t>  [FACTORY] TacheGenieCivilFactory.creerTache() -&gt; Tache type=GENIE_CIVIL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8444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800"/>
                </a:solidFill>
                <a:latin typeface="Consolas"/>
              </a:defRPr>
            </a:pPr>
            <a:r>
              <a:t>  [OBSERVER] DepenseCreatedEvent publie -&gt; TacheService recoit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800"/>
                </a:solidFill>
                <a:latin typeface="Consolas"/>
              </a:defRPr>
            </a:pPr>
            <a:r>
              <a:t>  [OBSERVER] Budget.montantConsomme mis a jour: 15000.0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9651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3333"/>
                </a:solidFill>
                <a:latin typeface="Consolas"/>
              </a:defRPr>
            </a:pPr>
            <a:r>
              <a:t>  [DECORATOR] ALERTE : Budget depasse 500 000 MAD 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5254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66FF"/>
                </a:solidFill>
                <a:latin typeface="Consolas"/>
              </a:defRPr>
            </a:pPr>
            <a:r>
              <a:t>  [TEMPLATE] RapportPDFService.genererRapportComplet() -&gt; format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0857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  [STRATEGY] CalculSimple: taux avancement = 45.3%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7433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[INFO] Tests run: 10, Failures: 0, Errors: 0, Skipped: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303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88"/>
                </a:solidFill>
                <a:latin typeface="Consolas"/>
              </a:defRPr>
            </a:pPr>
            <a:r>
              <a:t>[INFO] BUILD SUCCESS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669280"/>
            <a:ext cx="5760720" cy="640080"/>
          </a:xfrm>
          <a:prstGeom prst="roundRect">
            <a:avLst/>
          </a:prstGeom>
          <a:solidFill>
            <a:srgbClr val="082A1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7150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Calibri"/>
              </a:defRPr>
            </a:pPr>
            <a:r>
              <a:t>TESTS PASSES  |  BUILD SUCCESS  |  ZONE VERITE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  <a:latin typeface="Calibri"/>
              </a:defRPr>
            </a:pPr>
            <a:r>
              <a:t>Les 10 patterns s'executent a la chaine  |  Barre verte JUnit = validation architecturale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